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6" r:id="rId4"/>
    <p:sldId id="270" r:id="rId5"/>
    <p:sldId id="258" r:id="rId6"/>
    <p:sldId id="267" r:id="rId7"/>
    <p:sldId id="268" r:id="rId8"/>
    <p:sldId id="260" r:id="rId9"/>
    <p:sldId id="269" r:id="rId10"/>
    <p:sldId id="262" r:id="rId11"/>
    <p:sldId id="263" r:id="rId12"/>
    <p:sldId id="264" r:id="rId13"/>
    <p:sldId id="265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4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0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4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2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9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0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9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4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9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C65D2-9C0F-4BF4-B709-59A0230B1F82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60071-48C8-410F-A48D-839BB2A36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4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unmnL86RXE&amp;ab_channel=MertKarag%C3%B6z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54327"/>
            <a:ext cx="9144000" cy="2030811"/>
          </a:xfrm>
        </p:spPr>
        <p:txBody>
          <a:bodyPr anchor="t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tr-TR" sz="4900" dirty="0" smtClean="0"/>
              <a:t>Hacettepe University</a:t>
            </a:r>
            <a:br>
              <a:rPr lang="tr-TR" sz="4900" dirty="0" smtClean="0"/>
            </a:br>
            <a:r>
              <a:rPr lang="tr-TR" sz="4900" dirty="0" smtClean="0"/>
              <a:t>VBM688 TERM PROJECT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/>
              <a:t>PATHFINDING with Q-LEARNING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16884"/>
            <a:ext cx="9144000" cy="1655762"/>
          </a:xfrm>
        </p:spPr>
        <p:txBody>
          <a:bodyPr/>
          <a:lstStyle/>
          <a:p>
            <a:r>
              <a:rPr lang="tr-TR" dirty="0" smtClean="0"/>
              <a:t>MERT KARAGÖZ</a:t>
            </a:r>
          </a:p>
          <a:p>
            <a:r>
              <a:rPr lang="tr-TR" dirty="0" smtClean="0"/>
              <a:t>N20134084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101" y="96533"/>
            <a:ext cx="1397798" cy="205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186" y="301617"/>
            <a:ext cx="3271986" cy="100216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tr-TR" dirty="0" smtClean="0"/>
              <a:t>Q-Learning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3596" y="1446803"/>
            <a:ext cx="7395754" cy="1889713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tr-TR" dirty="0" smtClean="0"/>
              <a:t>H</a:t>
            </a:r>
            <a:r>
              <a:rPr lang="en-US" dirty="0" err="1" smtClean="0"/>
              <a:t>ave</a:t>
            </a:r>
            <a:r>
              <a:rPr lang="en-US" dirty="0" smtClean="0"/>
              <a:t> </a:t>
            </a:r>
            <a:r>
              <a:rPr lang="en-US" dirty="0"/>
              <a:t>you ever trained a pet and rewarded it for every correct command you asked for?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0" y="1336224"/>
            <a:ext cx="3214061" cy="20002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653245" y="3947478"/>
            <a:ext cx="7395754" cy="1889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tr-TR" dirty="0" smtClean="0"/>
              <a:t>Have you ever receive stars from your primary school teacher?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5" y="3872070"/>
            <a:ext cx="3271986" cy="2040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79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19315" y="1669142"/>
            <a:ext cx="5588000" cy="5370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0263" y="939907"/>
            <a:ext cx="3631475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tr-TR" b="1" dirty="0" smtClean="0"/>
              <a:t>Q Learning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150" y="2965593"/>
            <a:ext cx="6235700" cy="138272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tr-TR" dirty="0" smtClean="0"/>
              <a:t>Q learning is a </a:t>
            </a:r>
            <a:r>
              <a:rPr lang="tr-TR" u="sng" dirty="0" smtClean="0"/>
              <a:t>model-free</a:t>
            </a:r>
            <a:r>
              <a:rPr lang="tr-TR" dirty="0" smtClean="0"/>
              <a:t> learning technique that can be used to find the </a:t>
            </a:r>
            <a:r>
              <a:rPr lang="tr-TR" u="sng" dirty="0" smtClean="0"/>
              <a:t>optimal</a:t>
            </a:r>
            <a:r>
              <a:rPr lang="tr-TR" dirty="0" smtClean="0"/>
              <a:t> action-selection policy using a Q function.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754" y="505176"/>
            <a:ext cx="3631475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tr-TR" b="1" dirty="0" smtClean="0"/>
              <a:t>Q Learning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46" y="560409"/>
            <a:ext cx="6387738" cy="1382723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We want to obtain a function </a:t>
            </a:r>
            <a:r>
              <a:rPr lang="tr-TR" b="1" dirty="0" smtClean="0"/>
              <a:t>Q(s,a) </a:t>
            </a:r>
            <a:r>
              <a:rPr lang="tr-TR" dirty="0" smtClean="0"/>
              <a:t>that </a:t>
            </a:r>
            <a:r>
              <a:rPr lang="tr-TR" u="sng" dirty="0" smtClean="0"/>
              <a:t>predicts</a:t>
            </a:r>
            <a:r>
              <a:rPr lang="tr-TR" dirty="0" smtClean="0"/>
              <a:t> best action </a:t>
            </a:r>
            <a:r>
              <a:rPr lang="tr-TR" b="1" u="sng" dirty="0" smtClean="0"/>
              <a:t>a</a:t>
            </a:r>
            <a:r>
              <a:rPr lang="tr-TR" b="1" dirty="0" smtClean="0"/>
              <a:t> </a:t>
            </a:r>
            <a:r>
              <a:rPr lang="tr-TR" dirty="0" smtClean="0"/>
              <a:t>in state </a:t>
            </a:r>
            <a:r>
              <a:rPr lang="tr-TR" b="1" u="sng" dirty="0" smtClean="0"/>
              <a:t>s</a:t>
            </a:r>
            <a:r>
              <a:rPr lang="tr-TR" dirty="0" smtClean="0"/>
              <a:t> in order to a maximize cumulative reward.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06" y="2698481"/>
            <a:ext cx="6912743" cy="3095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823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754" y="505176"/>
            <a:ext cx="3631475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tr-TR" b="1" dirty="0" smtClean="0"/>
              <a:t>Q Learning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41418" y="3096848"/>
            <a:ext cx="10372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Q</a:t>
            </a:r>
            <a:r>
              <a:rPr lang="tr-TR" sz="2800" dirty="0" smtClean="0"/>
              <a:t>(state, action) = </a:t>
            </a:r>
            <a:r>
              <a:rPr lang="tr-TR" sz="2800" b="1" dirty="0" smtClean="0"/>
              <a:t>R</a:t>
            </a:r>
            <a:r>
              <a:rPr lang="tr-TR" sz="2800" dirty="0" smtClean="0"/>
              <a:t>(state, action) + </a:t>
            </a:r>
            <a:r>
              <a:rPr lang="el-GR" sz="2800" dirty="0" smtClean="0"/>
              <a:t>γ</a:t>
            </a:r>
            <a:r>
              <a:rPr lang="tr-TR" sz="2800" dirty="0" smtClean="0"/>
              <a:t> . MAX[</a:t>
            </a:r>
            <a:r>
              <a:rPr lang="tr-TR" sz="2800" b="1" dirty="0" smtClean="0"/>
              <a:t>Q</a:t>
            </a:r>
            <a:r>
              <a:rPr lang="tr-TR" sz="2800" dirty="0" smtClean="0"/>
              <a:t>(next state, all actions)]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483943" y="3588154"/>
            <a:ext cx="7152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u="sng" dirty="0" smtClean="0">
                <a:solidFill>
                  <a:srgbClr val="FF0000"/>
                </a:solidFill>
              </a:rPr>
              <a:t>Immediate Reward</a:t>
            </a:r>
            <a:r>
              <a:rPr lang="tr-TR" sz="2400" dirty="0" smtClean="0">
                <a:solidFill>
                  <a:srgbClr val="FF0000"/>
                </a:solidFill>
              </a:rPr>
              <a:t>                       </a:t>
            </a:r>
            <a:r>
              <a:rPr lang="tr-TR" sz="2400" u="sng" dirty="0" smtClean="0">
                <a:solidFill>
                  <a:srgbClr val="FF0000"/>
                </a:solidFill>
              </a:rPr>
              <a:t>Future Reward</a:t>
            </a:r>
            <a:endParaRPr lang="en-US" sz="2400" u="sng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95" y="2970279"/>
            <a:ext cx="60483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8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754" y="505176"/>
            <a:ext cx="3631475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tr-TR" b="1" dirty="0" smtClean="0"/>
              <a:t>Q Learning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0540" y="2767147"/>
            <a:ext cx="6387738" cy="2765447"/>
          </a:xfrm>
        </p:spPr>
        <p:txBody>
          <a:bodyPr/>
          <a:lstStyle/>
          <a:p>
            <a:r>
              <a:rPr lang="tr-TR" dirty="0" smtClean="0"/>
              <a:t>Before Acting, Agent must learn.</a:t>
            </a:r>
          </a:p>
          <a:p>
            <a:r>
              <a:rPr lang="tr-TR" dirty="0" smtClean="0"/>
              <a:t>Agent receive feedback from rewards.</a:t>
            </a:r>
          </a:p>
          <a:p>
            <a:r>
              <a:rPr lang="en-US" dirty="0" smtClean="0"/>
              <a:t>Agent’s utility is defined by the reward function</a:t>
            </a:r>
            <a:r>
              <a:rPr lang="tr-TR" dirty="0" smtClean="0"/>
              <a:t>.(</a:t>
            </a:r>
            <a:r>
              <a:rPr lang="tr-TR" b="1" dirty="0" smtClean="0"/>
              <a:t>Q</a:t>
            </a:r>
            <a:r>
              <a:rPr lang="tr-TR" dirty="0" smtClean="0"/>
              <a:t>uality function)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54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860" y="129994"/>
            <a:ext cx="528828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tr-TR" dirty="0" smtClean="0"/>
              <a:t>Q-Learning Algorithm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486" y="1658983"/>
            <a:ext cx="6195028" cy="46721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451860" y="4626322"/>
            <a:ext cx="236295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 smtClean="0"/>
              <a:t>In my demonstration 100 iterations applied.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056" y="1658983"/>
            <a:ext cx="2396821" cy="1815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8837" y="3472934"/>
            <a:ext cx="1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 smtClean="0"/>
              <a:t>Q MATRIX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044717" y="5857462"/>
            <a:ext cx="120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R</a:t>
            </a:r>
            <a:r>
              <a:rPr lang="tr-TR" b="1" dirty="0" smtClean="0"/>
              <a:t> MATRIX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056" y="4249106"/>
            <a:ext cx="2601261" cy="160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9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0"/>
            <a:ext cx="10658728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723900" y="3276600"/>
            <a:ext cx="3327400" cy="3581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533900" y="76200"/>
            <a:ext cx="6438900" cy="6400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96672" y="1562100"/>
            <a:ext cx="3327400" cy="12065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630864" y="3746500"/>
            <a:ext cx="2844800" cy="24003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7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2233" y="273686"/>
            <a:ext cx="5876109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r-TR" dirty="0" smtClean="0"/>
              <a:t>Coding Q Learning Agent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511" y="1917089"/>
            <a:ext cx="5723551" cy="39484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54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548" y="1909058"/>
            <a:ext cx="10206903" cy="45309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922145" y="299811"/>
            <a:ext cx="634771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r-TR" dirty="0" smtClean="0"/>
              <a:t>Coding Q Learning Agent II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1348509" y="2244436"/>
            <a:ext cx="9993746" cy="12469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348509" y="4368800"/>
            <a:ext cx="3713018" cy="295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348509" y="4817884"/>
            <a:ext cx="1320800" cy="2805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tr-TR" dirty="0" smtClean="0"/>
              <a:t>Q Learning Application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64078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Video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8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8870" y="4191755"/>
            <a:ext cx="5654041" cy="642796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tr-TR" dirty="0" smtClean="0"/>
              <a:t>Thanks for Watching!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52" y="1499960"/>
            <a:ext cx="47148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631"/>
            <a:ext cx="12251788" cy="6891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1250" y="4429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8201" y="150245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>
                <a:solidFill>
                  <a:srgbClr val="FF0000"/>
                </a:solidFill>
              </a:rPr>
              <a:t>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723" y="37979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3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77898" y="4429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>
                <a:solidFill>
                  <a:srgbClr val="FF0000"/>
                </a:solidFill>
              </a:rPr>
              <a:t>4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11473" y="85612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5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923" y="330625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b="1" dirty="0">
                <a:solidFill>
                  <a:srgbClr val="FF0000"/>
                </a:solidFill>
              </a:rPr>
              <a:t>6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175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Hacettepe University VBM688 TERM PROJECT PATHFINDING with Q-LEARNING</vt:lpstr>
      <vt:lpstr>Q-Learning</vt:lpstr>
      <vt:lpstr>PowerPoint Presentation</vt:lpstr>
      <vt:lpstr>Q Learning</vt:lpstr>
      <vt:lpstr>Q Learning</vt:lpstr>
      <vt:lpstr>Q Learning</vt:lpstr>
      <vt:lpstr>Q Learning</vt:lpstr>
      <vt:lpstr>Q-Learning Algorithm</vt:lpstr>
      <vt:lpstr>PowerPoint Presentation</vt:lpstr>
      <vt:lpstr>Coding Q Learning Agent</vt:lpstr>
      <vt:lpstr>Coding Q Learning Agent II</vt:lpstr>
      <vt:lpstr>Q Learning Application Demonstration</vt:lpstr>
      <vt:lpstr>Thanks for Watching!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VBM-688 PROJECT Q-LEARNING</dc:title>
  <dc:creator>Mert Karagöz</dc:creator>
  <cp:lastModifiedBy>Mert Karagöz</cp:lastModifiedBy>
  <cp:revision>41</cp:revision>
  <dcterms:created xsi:type="dcterms:W3CDTF">2021-05-15T17:03:37Z</dcterms:created>
  <dcterms:modified xsi:type="dcterms:W3CDTF">2021-05-24T19:50:23Z</dcterms:modified>
</cp:coreProperties>
</file>